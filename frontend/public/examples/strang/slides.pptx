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function is a pure quadratic in two variables, x and y.</a:t>
            </a:r>
          </a:p>
          <a:p>
            <a:r>
              <a:t>Here b represents the smaller eigenvalue of S.</a:t>
            </a:r>
          </a:p>
          <a:p>
            <a:r>
              <a:t>For a symmetric positive matrix, the condition number is the ratio of its largest to smallest eigenvalue.</a:t>
            </a:r>
          </a:p>
          <a:p>
            <a:r>
              <a:t>The condition number of S is λ_max/λ_min = 1/b.</a:t>
            </a:r>
          </a:p>
          <a:p>
            <a:r>
              <a:t>An eigenvalue is the factor by which an eigenvector is stretched or compressed during a linear transformation.</a:t>
            </a:r>
          </a:p>
          <a:p>
            <a:r>
              <a:t>Gradient descent is a first‑order iterative algorithm that uses the gradient to minimize a differentiable function.</a:t>
            </a:r>
          </a:p>
          <a:p>
            <a:r>
              <a:t>Source of the example: lecture 00:42-00:49 (seg_0006).</a:t>
            </a:r>
          </a:p>
          <a:p>
            <a:r>
              <a:t>Lecture time of this section: 00:00 - 01:45 (to listen again).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example function is a bowl centered at the origin, so its minimum is at x* = (0,0).</a:t>
            </a:r>
          </a:p>
          <a:p>
            <a:r>
              <a:t>The key question is how many iterations are needed for steepest descent to reach the optimum.</a:t>
            </a:r>
          </a:p>
          <a:p>
            <a:r>
              <a:t>Even though this is a simple, non‑typical example, it reveals the full behavior of the steepest descent method.</a:t>
            </a:r>
          </a:p>
          <a:p>
            <a:r>
              <a:t>We can track how fast the iterates approach x* and consider strategies to accelerate convergence when it is sluggish.</a:t>
            </a:r>
          </a:p>
          <a:p>
            <a:r>
              <a:t>Source of the example: lecture 02:36-02:40 (seg_0024).</a:t>
            </a:r>
          </a:p>
          <a:p>
            <a:r>
              <a:t>Lecture time of this section: 01:45 - 03:06 (to listen again).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gradient direction indicates the steepest ascent; moving perpendicular to the level set increases the function fastest.</a:t>
            </a:r>
          </a:p>
          <a:p>
            <a:r>
              <a:t>For f=2x+5y, the level set where f=0 is the plane 2x+5y=0; staying in this plane keeps the function value constant.</a:t>
            </a:r>
          </a:p>
          <a:p>
            <a:r>
              <a:t>A level set of a function is the set of points where the function has a constant value; for two variables it is a level curve or contour line.</a:t>
            </a:r>
          </a:p>
          <a:p>
            <a:r>
              <a:t>The Hessian matrix describes the local curvature of a function.</a:t>
            </a:r>
          </a:p>
          <a:p>
            <a:r>
              <a:t>The lecturer asks how the Hessian relates to the convexity of the function.</a:t>
            </a:r>
          </a:p>
          <a:p>
            <a:r>
              <a:t>Geometrically, a function is convex if a line segment drawn from any point (x, f(x)) to another point (y, f(y)) lies above or on the graph of the function.</a:t>
            </a:r>
          </a:p>
          <a:p>
            <a:r>
              <a:t>Source of the example: lecture 03:53-03:58, 03:59-04:10 (seg_0034, seg_0035).</a:t>
            </a:r>
          </a:p>
          <a:p>
            <a:r>
              <a:t>Lecture time of this section: 03:06 - 09:59 (to listen again).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www.varsitytutors.com/practice/subjects/ap-physics-1/lessons/quadratic-models-and-optimization-max-min" TargetMode="External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://katselis.web.engr.illinois.edu/ECE586/Lecture3.pdf" TargetMode="External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www.varsitytutors.com/practice/subjects/ap-physics-1/lessons/quadratic-models-and-optimization-max-min" TargetMode="External"/><Relationship Id="rId3" Type="http://schemas.openxmlformats.org/officeDocument/2006/relationships/hyperlink" Target="https://www.math.cmu.edu/~shlomo/VKI-Lectures/lecture1/node5.html" TargetMode="External"/><Relationship Id="rId4" Type="http://schemas.openxmlformats.org/officeDocument/2006/relationships/hyperlink" Target="https://en.wikipedia.org/wiki/Eigenvalues_and_eigenvectors" TargetMode="External"/><Relationship Id="rId5" Type="http://schemas.openxmlformats.org/officeDocument/2006/relationships/hyperlink" Target="https://en.wikipedia.org/wiki/Gradient_descent" TargetMode="External"/><Relationship Id="rId6" Type="http://schemas.openxmlformats.org/officeDocument/2006/relationships/hyperlink" Target="http://katselis.web.engr.illinois.edu/ECE586/Lecture3.pdf" TargetMode="External"/><Relationship Id="rId7" Type="http://schemas.openxmlformats.org/officeDocument/2006/relationships/hyperlink" Target="https://en.wikipedia.org/wiki/Level_set" TargetMode="External"/><Relationship Id="rId8" Type="http://schemas.openxmlformats.org/officeDocument/2006/relationships/hyperlink" Target="https://en.wikipedia.org/wiki/Hessian_matrix" TargetMode="External"/><Relationship Id="rId9" Type="http://schemas.openxmlformats.org/officeDocument/2006/relationships/hyperlink" Target="https://www.solver.com/convex-optimization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280160"/>
            <a:ext cx="10515600" cy="1828800"/>
          </a:xfrm>
        </p:spPr>
        <p:txBody>
          <a:bodyPr wrap="square" anchor="b" lIns="45720" rIns="45720"/>
          <a:lstStyle/>
          <a:p>
            <a:pPr algn="l"/>
            <a:r>
              <a:rPr sz="4400" b="1" i="0">
                <a:solidFill>
                  <a:srgbClr val="FFFFFF"/>
                </a:solidFill>
                <a:latin typeface="Georgia"/>
              </a:rPr>
              <a:t>Lecture excerpt: a pure quadratic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r>
              <a:rPr sz="2000" b="1" i="0">
                <a:solidFill>
                  <a:srgbClr val="0E9F8E"/>
                </a:solidFill>
                <a:latin typeface="Calibri"/>
              </a:rPr>
              <a:t>Lecturesque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337560"/>
            <a:ext cx="1280160" cy="54864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r>
              <a:rPr sz="2000" b="0" i="0">
                <a:solidFill>
                  <a:srgbClr val="FFFFFF"/>
                </a:solidFill>
                <a:latin typeface="Calibri"/>
              </a:rPr>
              <a:t>3 sections - 27 statements - not judged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r>
              <a:rPr sz="1300" b="0" i="0">
                <a:solidFill>
                  <a:srgbClr val="AEBBCB"/>
                </a:solidFill>
                <a:latin typeface="Calibri"/>
              </a:rPr>
              <a:t>Built with Nemotron on Nebius Token Factory. Every statement cites a lecture time or a web link.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r"/>
            <a:r>
              <a:rPr sz="1100" b="0" i="0">
                <a:solidFill>
                  <a:srgbClr val="AEBBCB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8595360" cy="731520"/>
          </a:xfrm>
        </p:spPr>
        <p:txBody>
          <a:bodyPr wrap="square" anchor="t" lIns="45720" rIns="45720"/>
          <a:lstStyle/>
          <a:p>
            <a:pPr algn="l"/>
            <a:r>
              <a:rPr sz="3200" b="1" i="0">
                <a:solidFill>
                  <a:srgbClr val="0F2A4A"/>
                </a:solidFill>
                <a:latin typeface="Georgia"/>
              </a:rPr>
              <a:t>Pure Quadratic Forms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54312" y="475488"/>
            <a:ext cx="2288743" cy="384048"/>
          </a:xfrm>
          <a:prstGeom prst="roundRect">
            <a:avLst>
              <a:gd name="adj" fmla="val 50000"/>
            </a:avLst>
          </a:prstGeom>
          <a:solidFill>
            <a:srgbClr val="E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 i="0">
                <a:solidFill>
                  <a:srgbClr val="0A6F64"/>
                </a:solidFill>
                <a:latin typeface="Calibri"/>
              </a:rPr>
              <a:t>Lecture 00:00-01:45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19"/>
            <a:ext cx="11094415" cy="2532379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marL="274320" indent="-274320">
              <a:buClr>
                <a:srgbClr val="0E9F8E"/>
              </a:buClr>
              <a:buFont typeface="Arial"/>
              <a:buChar char="•"/>
            </a:pPr>
            <a:r>
              <a:rPr sz="2000" b="0" i="0">
                <a:solidFill>
                  <a:srgbClr val="1F2933"/>
                </a:solidFill>
                <a:latin typeface="Calibri"/>
              </a:rPr>
              <a:t>A pure quadratic is a quadratic function of the form f(x)=ax^2+bx+c with a≠0, whose graph is a parabola.</a:t>
            </a:r>
          </a:p>
          <a:p>
            <a:pPr marL="274320" indent="0">
              <a:spcBef>
                <a:spcPts val="300"/>
              </a:spcBef>
              <a:buNone/>
            </a:pPr>
            <a:r>
              <a:rPr sz="1200" b="0" i="0">
                <a:solidFill>
                  <a:srgbClr val="0A6F64"/>
                </a:solidFill>
                <a:latin typeface="Calibri"/>
                <a:hlinkClick r:id="rId2"/>
              </a:rPr>
              <a:t>Quadratic Models and Optimization (Max/Min) | Varsity Tutors (varsitytutors.com)</a:t>
            </a:r>
            <a:r>
              <a:rPr sz="1200" b="1" i="0">
                <a:solidFill>
                  <a:srgbClr val="5B6B7F"/>
                </a:solidFill>
                <a:latin typeface="Calibri"/>
              </a:rPr>
              <a:t>   not judged</a:t>
            </a:r>
          </a:p>
          <a:p>
            <a:pPr marL="274320" indent="-274320">
              <a:spcBef>
                <a:spcPts val="1000"/>
              </a:spcBef>
              <a:buClr>
                <a:srgbClr val="0E9F8E"/>
              </a:buClr>
              <a:buFont typeface="Arial"/>
              <a:buChar char="•"/>
            </a:pPr>
            <a:r>
              <a:rPr sz="2000" b="0" i="0">
                <a:solidFill>
                  <a:srgbClr val="1F2933"/>
                </a:solidFill>
                <a:latin typeface="Calibri"/>
              </a:rPr>
              <a:t>Any pure quadratic in two variables can be written as x^T S x where S is a symmetric 2×2 matrix.</a:t>
            </a:r>
          </a:p>
          <a:p>
            <a:pPr marL="274320" indent="0">
              <a:spcBef>
                <a:spcPts val="300"/>
              </a:spcBef>
              <a:buNone/>
            </a:pPr>
            <a:r>
              <a:rPr sz="1200" b="0" i="0">
                <a:solidFill>
                  <a:srgbClr val="5B6B7F"/>
                </a:solidFill>
                <a:latin typeface="Calibri"/>
              </a:rPr>
              <a:t>Lecture 00:27‑00:42</a:t>
            </a:r>
            <a:r>
              <a:rPr sz="1200" b="1" i="0">
                <a:solidFill>
                  <a:srgbClr val="5B6B7F"/>
                </a:solidFill>
                <a:latin typeface="Calibri"/>
              </a:rPr>
              <a:t>   not judged</a:t>
            </a:r>
          </a:p>
          <a:p>
            <a:pPr marL="274320" indent="-274320">
              <a:spcBef>
                <a:spcPts val="1000"/>
              </a:spcBef>
              <a:buClr>
                <a:srgbClr val="0E9F8E"/>
              </a:buClr>
              <a:buFont typeface="Arial"/>
              <a:buChar char="•"/>
            </a:pPr>
            <a:r>
              <a:rPr sz="2000" b="0" i="0">
                <a:solidFill>
                  <a:srgbClr val="1F2933"/>
                </a:solidFill>
                <a:latin typeface="Calibri"/>
              </a:rPr>
              <a:t>When b is very small, 1/b is large, indicating a high condition number and slow convergence.</a:t>
            </a:r>
          </a:p>
          <a:p>
            <a:pPr marL="274320" indent="0">
              <a:spcBef>
                <a:spcPts val="300"/>
              </a:spcBef>
              <a:buNone/>
            </a:pPr>
            <a:r>
              <a:rPr sz="1200" b="0" i="0">
                <a:solidFill>
                  <a:srgbClr val="5B6B7F"/>
                </a:solidFill>
                <a:latin typeface="Calibri"/>
              </a:rPr>
              <a:t>Lecture 01:16‑01:24</a:t>
            </a:r>
            <a:r>
              <a:rPr sz="1200" b="1" i="0">
                <a:solidFill>
                  <a:srgbClr val="5B6B7F"/>
                </a:solidFill>
                <a:latin typeface="Calibri"/>
              </a:rPr>
              <a:t>   not judged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995419"/>
            <a:ext cx="11094415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/>
            <a:r>
              <a:rPr sz="1200" b="1" i="0">
                <a:solidFill>
                  <a:srgbClr val="B45309"/>
                </a:solidFill>
                <a:latin typeface="Calibri"/>
              </a:rPr>
              <a:t>EXAMPLE</a:t>
            </a:r>
          </a:p>
          <a:p>
            <a:pPr algn="l">
              <a:spcBef>
                <a:spcPts val="2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In this example, S is diagonal and its eigenvalues are 1 and 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r"/>
            <a:r>
              <a:rPr sz="1100" b="0" i="0">
                <a:solidFill>
                  <a:srgbClr val="5B6B7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8595360" cy="731520"/>
          </a:xfrm>
        </p:spPr>
        <p:txBody>
          <a:bodyPr wrap="square" anchor="t" lIns="45720" rIns="45720"/>
          <a:lstStyle/>
          <a:p>
            <a:pPr algn="l"/>
            <a:r>
              <a:rPr sz="3200" b="1" i="0">
                <a:solidFill>
                  <a:srgbClr val="0F2A4A"/>
                </a:solidFill>
                <a:latin typeface="Georgia"/>
              </a:rPr>
              <a:t>Steepest Descent Update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54312" y="475488"/>
            <a:ext cx="2288743" cy="384048"/>
          </a:xfrm>
          <a:prstGeom prst="roundRect">
            <a:avLst>
              <a:gd name="adj" fmla="val 50000"/>
            </a:avLst>
          </a:prstGeom>
          <a:solidFill>
            <a:srgbClr val="E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 i="0">
                <a:solidFill>
                  <a:srgbClr val="0A6F64"/>
                </a:solidFill>
                <a:latin typeface="Calibri"/>
              </a:rPr>
              <a:t>Lecture 01:45-03:06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19"/>
            <a:ext cx="11094415" cy="2532379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marL="274320" indent="-274320">
              <a:buClr>
                <a:srgbClr val="0E9F8E"/>
              </a:buClr>
              <a:buFont typeface="Arial"/>
              <a:buChar char="•"/>
            </a:pPr>
            <a:r>
              <a:rPr sz="2000" b="0" i="0">
                <a:solidFill>
                  <a:srgbClr val="1F2933"/>
                </a:solidFill>
                <a:latin typeface="Calibri"/>
              </a:rPr>
              <a:t>Steepest descent is an iterative optimization method that moves from the current point in the direction of the negative gradient.</a:t>
            </a:r>
          </a:p>
          <a:p>
            <a:pPr marL="274320" indent="0">
              <a:spcBef>
                <a:spcPts val="300"/>
              </a:spcBef>
              <a:buNone/>
            </a:pPr>
            <a:r>
              <a:rPr sz="1200" b="0" i="0">
                <a:solidFill>
                  <a:srgbClr val="0A6F64"/>
                </a:solidFill>
                <a:latin typeface="Calibri"/>
                <a:hlinkClick r:id="rId2"/>
              </a:rPr>
              <a:t>Lecture 3: Steepest and Gradient Descent-Part I (katselis.web.engr.illinois.edu)</a:t>
            </a:r>
            <a:r>
              <a:rPr sz="1200" b="1" i="0">
                <a:solidFill>
                  <a:srgbClr val="5B6B7F"/>
                </a:solidFill>
                <a:latin typeface="Calibri"/>
              </a:rPr>
              <a:t>   not judged</a:t>
            </a:r>
          </a:p>
          <a:p>
            <a:pPr marL="274320" indent="-274320">
              <a:spcBef>
                <a:spcPts val="1000"/>
              </a:spcBef>
              <a:buClr>
                <a:srgbClr val="0E9F8E"/>
              </a:buClr>
              <a:buFont typeface="Arial"/>
              <a:buChar char="•"/>
            </a:pPr>
            <a:r>
              <a:rPr sz="2000" b="0" i="0">
                <a:solidFill>
                  <a:srgbClr val="1F2933"/>
                </a:solidFill>
                <a:latin typeface="Calibri"/>
              </a:rPr>
              <a:t>We can take explicit steps of the steepest descent algorithm.</a:t>
            </a:r>
          </a:p>
          <a:p>
            <a:pPr marL="274320" indent="0">
              <a:spcBef>
                <a:spcPts val="300"/>
              </a:spcBef>
              <a:buNone/>
            </a:pPr>
            <a:r>
              <a:rPr sz="1200" b="0" i="0">
                <a:solidFill>
                  <a:srgbClr val="5B6B7F"/>
                </a:solidFill>
                <a:latin typeface="Calibri"/>
              </a:rPr>
              <a:t>Lecture 01:45‑01:54</a:t>
            </a:r>
            <a:r>
              <a:rPr sz="1200" b="1" i="0">
                <a:solidFill>
                  <a:srgbClr val="5B6B7F"/>
                </a:solidFill>
                <a:latin typeface="Calibri"/>
              </a:rPr>
              <a:t>   not judged</a:t>
            </a:r>
          </a:p>
          <a:p>
            <a:pPr marL="274320" indent="-274320">
              <a:spcBef>
                <a:spcPts val="1000"/>
              </a:spcBef>
              <a:buClr>
                <a:srgbClr val="0E9F8E"/>
              </a:buClr>
              <a:buFont typeface="Arial"/>
              <a:buChar char="•"/>
            </a:pPr>
            <a:r>
              <a:rPr sz="2000" b="0" i="0">
                <a:solidFill>
                  <a:srgbClr val="1F2933"/>
                </a:solidFill>
                <a:latin typeface="Calibri"/>
              </a:rPr>
              <a:t>At each iteration we can write down the update produced by steepest descent and monitor how fast it approaches the solution.</a:t>
            </a:r>
          </a:p>
          <a:p>
            <a:pPr marL="274320" indent="0">
              <a:spcBef>
                <a:spcPts val="300"/>
              </a:spcBef>
              <a:buNone/>
            </a:pPr>
            <a:r>
              <a:rPr sz="1200" b="0" i="0">
                <a:solidFill>
                  <a:srgbClr val="5B6B7F"/>
                </a:solidFill>
                <a:latin typeface="Calibri"/>
              </a:rPr>
              <a:t>Lecture 01:55‑02:02</a:t>
            </a:r>
            <a:r>
              <a:rPr sz="1200" b="1" i="0">
                <a:solidFill>
                  <a:srgbClr val="5B6B7F"/>
                </a:solidFill>
                <a:latin typeface="Calibri"/>
              </a:rPr>
              <a:t>   not judged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995419"/>
            <a:ext cx="11094415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/>
            <a:r>
              <a:rPr sz="1200" b="1" i="0">
                <a:solidFill>
                  <a:srgbClr val="B45309"/>
                </a:solidFill>
                <a:latin typeface="Calibri"/>
              </a:rPr>
              <a:t>EXAMPLE</a:t>
            </a:r>
          </a:p>
          <a:p>
            <a:pPr algn="l">
              <a:spcBef>
                <a:spcPts val="2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By running the algorithm we can view the exact sequence of points generated by steepest descent.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r"/>
            <a:r>
              <a:rPr sz="1100" b="0" i="0">
                <a:solidFill>
                  <a:srgbClr val="5B6B7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8595360" cy="1051560"/>
          </a:xfrm>
        </p:spPr>
        <p:txBody>
          <a:bodyPr wrap="square" anchor="t" lIns="45720" rIns="45720"/>
          <a:lstStyle/>
          <a:p>
            <a:pPr algn="l"/>
            <a:r>
              <a:rPr sz="3200" b="1" i="0">
                <a:solidFill>
                  <a:srgbClr val="0F2A4A"/>
                </a:solidFill>
                <a:latin typeface="Georgia"/>
              </a:rPr>
              <a:t>Linear Function Gradient and Hessian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54312" y="475488"/>
            <a:ext cx="2288743" cy="384048"/>
          </a:xfrm>
          <a:prstGeom prst="roundRect">
            <a:avLst>
              <a:gd name="adj" fmla="val 50000"/>
            </a:avLst>
          </a:prstGeom>
          <a:solidFill>
            <a:srgbClr val="E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 i="0">
                <a:solidFill>
                  <a:srgbClr val="0A6F64"/>
                </a:solidFill>
                <a:latin typeface="Calibri"/>
              </a:rPr>
              <a:t>Lecture 03:06-09:59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415" cy="1574799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marL="274320" indent="-274320">
              <a:buClr>
                <a:srgbClr val="0E9F8E"/>
              </a:buClr>
              <a:buFont typeface="Arial"/>
              <a:buChar char="•"/>
            </a:pPr>
            <a:r>
              <a:rPr sz="2000" b="0" i="0">
                <a:solidFill>
                  <a:srgbClr val="1F2933"/>
                </a:solidFill>
                <a:latin typeface="Calibri"/>
              </a:rPr>
              <a:t>Because the gradient is constant, it is the same at every point (x,y).</a:t>
            </a:r>
          </a:p>
          <a:p>
            <a:pPr marL="274320" indent="0">
              <a:spcBef>
                <a:spcPts val="300"/>
              </a:spcBef>
              <a:buNone/>
            </a:pPr>
            <a:r>
              <a:rPr sz="1200" b="0" i="0">
                <a:solidFill>
                  <a:srgbClr val="5B6B7F"/>
                </a:solidFill>
                <a:latin typeface="Calibri"/>
              </a:rPr>
              <a:t>Lecture 04:10‑04:24, 05:47‑05:54</a:t>
            </a:r>
            <a:r>
              <a:rPr sz="1200" b="1" i="0">
                <a:solidFill>
                  <a:srgbClr val="5B6B7F"/>
                </a:solidFill>
                <a:latin typeface="Calibri"/>
              </a:rPr>
              <a:t>   not judged</a:t>
            </a:r>
          </a:p>
          <a:p>
            <a:pPr marL="274320" indent="-274320">
              <a:spcBef>
                <a:spcPts val="1000"/>
              </a:spcBef>
              <a:buClr>
                <a:srgbClr val="0E9F8E"/>
              </a:buClr>
              <a:buFont typeface="Arial"/>
              <a:buChar char="•"/>
            </a:pPr>
            <a:r>
              <a:rPr sz="2000" b="0" i="0">
                <a:solidFill>
                  <a:srgbClr val="1F2933"/>
                </a:solidFill>
                <a:latin typeface="Calibri"/>
              </a:rPr>
              <a:t>The Hessian matrix consists of second‑order partial derivatives; for this linear function all second derivatives are zero, so the Hessian is the zero 2×2 matrix.</a:t>
            </a:r>
          </a:p>
          <a:p>
            <a:pPr marL="274320" indent="0">
              <a:spcBef>
                <a:spcPts val="300"/>
              </a:spcBef>
              <a:buNone/>
            </a:pPr>
            <a:r>
              <a:rPr sz="1200" b="0" i="0">
                <a:solidFill>
                  <a:srgbClr val="5B6B7F"/>
                </a:solidFill>
                <a:latin typeface="Calibri"/>
              </a:rPr>
              <a:t>Lecture 04:10‑04:30, 04:35‑04:38, 04:46‑04:50</a:t>
            </a:r>
            <a:r>
              <a:rPr sz="1200" b="1" i="0">
                <a:solidFill>
                  <a:srgbClr val="5B6B7F"/>
                </a:solidFill>
                <a:latin typeface="Calibri"/>
              </a:rPr>
              <a:t>   not judged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403599"/>
            <a:ext cx="11094415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/>
            <a:r>
              <a:rPr sz="1200" b="1" i="0">
                <a:solidFill>
                  <a:srgbClr val="B45309"/>
                </a:solidFill>
                <a:latin typeface="Calibri"/>
              </a:rPr>
              <a:t>EXAMPLE</a:t>
            </a:r>
          </a:p>
          <a:p>
            <a:pPr algn="l">
              <a:spcBef>
                <a:spcPts val="2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The gradient of the linear function f(x,y)=2x+5y is the constant vector (2,5).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r"/>
            <a:r>
              <a:rPr sz="1100" b="0" i="0">
                <a:solidFill>
                  <a:srgbClr val="5B6B7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8595360" cy="731520"/>
          </a:xfrm>
        </p:spPr>
        <p:txBody>
          <a:bodyPr wrap="square" anchor="t" lIns="45720" rIns="45720"/>
          <a:lstStyle/>
          <a:p>
            <a:pPr algn="l"/>
            <a:r>
              <a:rPr sz="3200" b="1" i="0">
                <a:solidFill>
                  <a:srgbClr val="0F2A4A"/>
                </a:solidFill>
                <a:latin typeface="Georgia"/>
              </a:rPr>
              <a:t>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318607" cy="4709159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r>
              <a:rPr sz="2000" b="1" i="0">
                <a:solidFill>
                  <a:srgbClr val="0A6F64"/>
                </a:solidFill>
                <a:latin typeface="Georgia"/>
              </a:rPr>
              <a:t>In the lecture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1F2933"/>
                </a:solidFill>
                <a:latin typeface="Calibri"/>
              </a:rPr>
              <a:t>Pure Quadratic Forms</a:t>
            </a:r>
          </a:p>
          <a:p>
            <a:r>
              <a:rPr sz="1300" b="0" i="0">
                <a:solidFill>
                  <a:srgbClr val="5B6B7F"/>
                </a:solidFill>
                <a:latin typeface="Calibri"/>
              </a:rPr>
              <a:t>00:19‑01:24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1F2933"/>
                </a:solidFill>
                <a:latin typeface="Calibri"/>
              </a:rPr>
              <a:t>Steepest Descent Update</a:t>
            </a:r>
          </a:p>
          <a:p>
            <a:r>
              <a:rPr sz="1300" b="0" i="0">
                <a:solidFill>
                  <a:srgbClr val="5B6B7F"/>
                </a:solidFill>
                <a:latin typeface="Calibri"/>
              </a:rPr>
              <a:t>01:45‑02:02, 02:08‑02:16, 02:23‑02:57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1F2933"/>
                </a:solidFill>
                <a:latin typeface="Calibri"/>
              </a:rPr>
              <a:t>Linear Function Gradient and Hessian</a:t>
            </a:r>
          </a:p>
          <a:p>
            <a:r>
              <a:rPr sz="1300" b="0" i="0">
                <a:solidFill>
                  <a:srgbClr val="5B6B7F"/>
                </a:solidFill>
                <a:latin typeface="Calibri"/>
              </a:rPr>
              <a:t>03:53‑04:30, 04:35‑04:38, 04:46‑04:50, 05:47‑06:15, 06:27‑06:38, 06:41‑06:55, 07:19‑07:24, 09:46‑09:57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4447" y="1554480"/>
            <a:ext cx="5318607" cy="4709159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r>
              <a:rPr sz="2000" b="1" i="0">
                <a:solidFill>
                  <a:srgbClr val="0A6F64"/>
                </a:solidFill>
                <a:latin typeface="Georgia"/>
              </a:rPr>
              <a:t>On the web</a:t>
            </a:r>
          </a:p>
          <a:p>
            <a:pPr>
              <a:spcBef>
                <a:spcPts val="800"/>
              </a:spcBef>
            </a:pPr>
            <a:r>
              <a:rPr sz="1300" b="0" i="0">
                <a:solidFill>
                  <a:srgbClr val="0A6F64"/>
                </a:solidFill>
                <a:latin typeface="Calibri"/>
                <a:hlinkClick r:id="rId2"/>
              </a:rPr>
              <a:t>Quadratic Models and Optimization (Max/Min) | Varsity Tutors (varsitytutors.com)</a:t>
            </a:r>
          </a:p>
          <a:p>
            <a:pPr>
              <a:spcBef>
                <a:spcPts val="800"/>
              </a:spcBef>
            </a:pPr>
            <a:r>
              <a:rPr sz="1300" b="0" i="0">
                <a:solidFill>
                  <a:srgbClr val="0A6F64"/>
                </a:solidFill>
                <a:latin typeface="Calibri"/>
                <a:hlinkClick r:id="rId3"/>
              </a:rPr>
              <a:t>Condition Number of the Hessian (math.cmu.edu)</a:t>
            </a:r>
          </a:p>
          <a:p>
            <a:pPr>
              <a:spcBef>
                <a:spcPts val="800"/>
              </a:spcBef>
            </a:pPr>
            <a:r>
              <a:rPr sz="1300" b="0" i="0">
                <a:solidFill>
                  <a:srgbClr val="0A6F64"/>
                </a:solidFill>
                <a:latin typeface="Calibri"/>
                <a:hlinkClick r:id="rId4"/>
              </a:rPr>
              <a:t>Eigenvalues and eigenvectors - Wikipedia (en.wikipedia.org)</a:t>
            </a:r>
          </a:p>
          <a:p>
            <a:pPr>
              <a:spcBef>
                <a:spcPts val="800"/>
              </a:spcBef>
            </a:pPr>
            <a:r>
              <a:rPr sz="1300" b="0" i="0">
                <a:solidFill>
                  <a:srgbClr val="0A6F64"/>
                </a:solidFill>
                <a:latin typeface="Calibri"/>
                <a:hlinkClick r:id="rId5"/>
              </a:rPr>
              <a:t>Gradient descent - Wikipedia (en.wikipedia.org)</a:t>
            </a:r>
          </a:p>
          <a:p>
            <a:pPr>
              <a:spcBef>
                <a:spcPts val="800"/>
              </a:spcBef>
            </a:pPr>
            <a:r>
              <a:rPr sz="1300" b="0" i="0">
                <a:solidFill>
                  <a:srgbClr val="0A6F64"/>
                </a:solidFill>
                <a:latin typeface="Calibri"/>
                <a:hlinkClick r:id="rId6"/>
              </a:rPr>
              <a:t>Lecture 3: Steepest and Gradient Descent-Part I (katselis.web.engr.illinois.edu)</a:t>
            </a:r>
          </a:p>
          <a:p>
            <a:pPr>
              <a:spcBef>
                <a:spcPts val="800"/>
              </a:spcBef>
            </a:pPr>
            <a:r>
              <a:rPr sz="1300" b="0" i="0">
                <a:solidFill>
                  <a:srgbClr val="0A6F64"/>
                </a:solidFill>
                <a:latin typeface="Calibri"/>
                <a:hlinkClick r:id="rId7"/>
              </a:rPr>
              <a:t>Level set - Wikipedia (en.wikipedia.org)</a:t>
            </a:r>
          </a:p>
          <a:p>
            <a:pPr>
              <a:spcBef>
                <a:spcPts val="800"/>
              </a:spcBef>
            </a:pPr>
            <a:r>
              <a:rPr sz="1300" b="0" i="0">
                <a:solidFill>
                  <a:srgbClr val="0A6F64"/>
                </a:solidFill>
                <a:latin typeface="Calibri"/>
                <a:hlinkClick r:id="rId8"/>
              </a:rPr>
              <a:t>Hessian matrix - Wikipedia (en.wikipedia.org)</a:t>
            </a:r>
          </a:p>
          <a:p>
            <a:pPr>
              <a:spcBef>
                <a:spcPts val="800"/>
              </a:spcBef>
            </a:pPr>
            <a:r>
              <a:rPr sz="1300" b="0" i="0">
                <a:solidFill>
                  <a:srgbClr val="0A6F64"/>
                </a:solidFill>
                <a:latin typeface="Calibri"/>
                <a:hlinkClick r:id="rId9"/>
              </a:rPr>
              <a:t>Optimization Problem Types - Convex Optimization | solver (solver.com)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r"/>
            <a:r>
              <a:rPr sz="1100" b="0" i="0">
                <a:solidFill>
                  <a:srgbClr val="5B6B7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A6F64"/>
      </a:hlink>
      <a:folHlink>
        <a:srgbClr val="0B7A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excerpt: a pure quadratic example</dc:title>
  <dc:subject/>
  <dc:creator>Lecturesque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